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4" r:id="rId1"/>
  </p:sldMasterIdLst>
  <p:sldIdLst>
    <p:sldId id="256" r:id="rId2"/>
    <p:sldId id="257" r:id="rId3"/>
    <p:sldId id="258" r:id="rId4"/>
    <p:sldId id="266" r:id="rId5"/>
    <p:sldId id="264" r:id="rId6"/>
    <p:sldId id="262" r:id="rId7"/>
    <p:sldId id="259" r:id="rId8"/>
    <p:sldId id="265" r:id="rId9"/>
    <p:sldId id="263" r:id="rId10"/>
    <p:sldId id="260" r:id="rId11"/>
    <p:sldId id="261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6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977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068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37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707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733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4789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15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926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958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370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2087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692490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9555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6615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993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0706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052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CA1F6-CB27-480F-9045-D7C05230D3A4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E9C6DA-590F-41E4-BBA9-FAC6FA2636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76625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55" r:id="rId1"/>
    <p:sldLayoutId id="2147483856" r:id="rId2"/>
    <p:sldLayoutId id="2147483857" r:id="rId3"/>
    <p:sldLayoutId id="2147483858" r:id="rId4"/>
    <p:sldLayoutId id="2147483859" r:id="rId5"/>
    <p:sldLayoutId id="2147483860" r:id="rId6"/>
    <p:sldLayoutId id="2147483861" r:id="rId7"/>
    <p:sldLayoutId id="2147483862" r:id="rId8"/>
    <p:sldLayoutId id="2147483863" r:id="rId9"/>
    <p:sldLayoutId id="2147483864" r:id="rId10"/>
    <p:sldLayoutId id="2147483865" r:id="rId11"/>
    <p:sldLayoutId id="2147483866" r:id="rId12"/>
    <p:sldLayoutId id="2147483867" r:id="rId13"/>
    <p:sldLayoutId id="2147483868" r:id="rId14"/>
    <p:sldLayoutId id="2147483869" r:id="rId15"/>
    <p:sldLayoutId id="2147483870" r:id="rId16"/>
    <p:sldLayoutId id="2147483871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13AF7-6D7C-4C79-9B28-E9A53A62B2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Beyond the </a:t>
            </a:r>
            <a:r>
              <a:rPr lang="en-US" dirty="0"/>
              <a:t>Degree:</a:t>
            </a:r>
            <a:br>
              <a:rPr lang="en-US" dirty="0"/>
            </a:br>
            <a:r>
              <a:rPr lang="en-US" sz="2400" dirty="0"/>
              <a:t>Building Skills to Complement your Bachelor's in the Social Sciences and Humanities</a:t>
            </a:r>
            <a:endParaRPr lang="en-US" sz="24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77B5CA-1233-413E-9E07-FE62FA1DC2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Scott Hegerty</a:t>
            </a:r>
          </a:p>
          <a:p>
            <a:r>
              <a:rPr lang="en-US"/>
              <a:t>Professor, Economics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3687FF-4D0A-4ED4-8015-AA231B7707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179" y="3602038"/>
            <a:ext cx="2689055" cy="263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28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104F1-1866-4F7D-ABCC-7C520B853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Achieving your career goals!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12400-E6C1-4708-81C0-007BC3B95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Social Sciences and Humanities: Interesting topics + Interesting careers</a:t>
            </a:r>
          </a:p>
          <a:p>
            <a:r>
              <a:rPr lang="en-US" dirty="0"/>
              <a:t>BUT: The major is only about 1/3 of your total credits</a:t>
            </a:r>
          </a:p>
          <a:p>
            <a:r>
              <a:rPr lang="en-US" dirty="0"/>
              <a:t>AND: There is more to college than just credits</a:t>
            </a:r>
          </a:p>
          <a:p>
            <a:endParaRPr lang="en-US" dirty="0"/>
          </a:p>
          <a:p>
            <a:r>
              <a:rPr lang="en-US" dirty="0"/>
              <a:t>How can you make the most of these opportunities?</a:t>
            </a:r>
          </a:p>
        </p:txBody>
      </p:sp>
    </p:spTree>
    <p:extLst>
      <p:ext uri="{BB962C8B-B14F-4D97-AF65-F5344CB8AC3E}">
        <p14:creationId xmlns:p14="http://schemas.microsoft.com/office/powerpoint/2010/main" val="187627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104F1-1866-4F7D-ABCC-7C520B853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can you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12400-E6C1-4708-81C0-007BC3B95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Leverage General Education courses</a:t>
            </a:r>
          </a:p>
          <a:p>
            <a:r>
              <a:rPr lang="en-US" dirty="0"/>
              <a:t>Take advantage of 300-level electives</a:t>
            </a:r>
          </a:p>
          <a:p>
            <a:r>
              <a:rPr lang="en-US" dirty="0"/>
              <a:t>Go outside the classroom</a:t>
            </a:r>
          </a:p>
          <a:p>
            <a:endParaRPr lang="en-US" dirty="0"/>
          </a:p>
          <a:p>
            <a:r>
              <a:rPr lang="en-US" dirty="0"/>
              <a:t>(All while building skills within your major!)</a:t>
            </a:r>
          </a:p>
          <a:p>
            <a:r>
              <a:rPr lang="en-US" dirty="0"/>
              <a:t>Think of some key ideas and make a plan</a:t>
            </a:r>
          </a:p>
        </p:txBody>
      </p:sp>
    </p:spTree>
    <p:extLst>
      <p:ext uri="{BB962C8B-B14F-4D97-AF65-F5344CB8AC3E}">
        <p14:creationId xmlns:p14="http://schemas.microsoft.com/office/powerpoint/2010/main" val="2544355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104F1-1866-4F7D-ABCC-7C520B853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do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12400-E6C1-4708-81C0-007BC3B95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 backward from a goal:  Specific career, grad school, how you see yourself</a:t>
            </a:r>
            <a:br>
              <a:rPr lang="en-US" dirty="0"/>
            </a:br>
            <a:r>
              <a:rPr lang="en-US" dirty="0"/>
              <a:t>What will you need?</a:t>
            </a:r>
          </a:p>
          <a:p>
            <a:r>
              <a:rPr lang="en-US" dirty="0"/>
              <a:t>Work NOW to do it</a:t>
            </a:r>
          </a:p>
          <a:p>
            <a:r>
              <a:rPr lang="en-US" dirty="0"/>
              <a:t>Choose courses with the goal in mind</a:t>
            </a:r>
          </a:p>
          <a:p>
            <a:r>
              <a:rPr lang="en-US" dirty="0"/>
              <a:t>Take part in activities outside the classroom:</a:t>
            </a:r>
            <a:br>
              <a:rPr lang="en-US" dirty="0"/>
            </a:br>
            <a:r>
              <a:rPr lang="en-US" dirty="0"/>
              <a:t>Organizations; internships; research opportunities; presentations</a:t>
            </a:r>
          </a:p>
          <a:p>
            <a:r>
              <a:rPr lang="en-US" dirty="0"/>
              <a:t>Present yourself: A portfolio and your resume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375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104F1-1866-4F7D-ABCC-7C520B853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 in Majors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12400-E6C1-4708-81C0-007BC3B95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u="sng" dirty="0"/>
              <a:t>Outcomes</a:t>
            </a:r>
          </a:p>
          <a:p>
            <a:r>
              <a:rPr lang="en-US" dirty="0"/>
              <a:t>Some build specific skills (like Economics)</a:t>
            </a:r>
          </a:p>
          <a:p>
            <a:r>
              <a:rPr lang="en-US" dirty="0"/>
              <a:t>Others have skills components (such as GIS within Geography)</a:t>
            </a:r>
          </a:p>
          <a:p>
            <a:r>
              <a:rPr lang="en-US" dirty="0"/>
              <a:t>Econ majors could use a writing class; Journalism majors could use an Econ class?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u="sng" dirty="0"/>
              <a:t>Opportunities</a:t>
            </a:r>
          </a:p>
          <a:p>
            <a:r>
              <a:rPr lang="en-US" dirty="0"/>
              <a:t>Majors have different requirements, so the numbers can be different</a:t>
            </a:r>
            <a:br>
              <a:rPr lang="en-US" dirty="0"/>
            </a:br>
            <a:r>
              <a:rPr lang="en-US" dirty="0"/>
              <a:t>(Econ requires 24 credits at the 300 level, so there can be 16 “elective” credits)</a:t>
            </a:r>
          </a:p>
        </p:txBody>
      </p:sp>
    </p:spTree>
    <p:extLst>
      <p:ext uri="{BB962C8B-B14F-4D97-AF65-F5344CB8AC3E}">
        <p14:creationId xmlns:p14="http://schemas.microsoft.com/office/powerpoint/2010/main" val="294776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104F1-1866-4F7D-ABCC-7C520B853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Skills vs. signals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12400-E6C1-4708-81C0-007BC3B95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learn something directly employable: Writing, Data analysis, Business skills </a:t>
            </a:r>
          </a:p>
          <a:p>
            <a:endParaRPr lang="en-US" dirty="0"/>
          </a:p>
          <a:p>
            <a:r>
              <a:rPr lang="en-US" dirty="0"/>
              <a:t>You can show employers that you are competent, trustworthy, or interested</a:t>
            </a:r>
          </a:p>
          <a:p>
            <a:r>
              <a:rPr lang="en-US" dirty="0"/>
              <a:t>“Signaling” in Economics: You can cut through the noise</a:t>
            </a:r>
          </a:p>
          <a:p>
            <a:endParaRPr lang="en-US" dirty="0"/>
          </a:p>
          <a:p>
            <a:r>
              <a:rPr lang="en-US" dirty="0"/>
              <a:t>Combined: You can get the interview and get the job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8301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FA0D1-BCEB-4ACA-BB8D-95E3D3E2B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Substitutes and Complements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A0A03-C9D8-4ED1-983E-6818E1E7B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u="sng" dirty="0"/>
              <a:t>Do you want to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Learn something outside your major  	OR</a:t>
            </a:r>
            <a:br>
              <a:rPr lang="en-US" dirty="0"/>
            </a:br>
            <a:r>
              <a:rPr lang="en-US" dirty="0"/>
              <a:t>Do something related to augment your major</a:t>
            </a:r>
          </a:p>
          <a:p>
            <a:endParaRPr lang="en-US" dirty="0"/>
          </a:p>
          <a:p>
            <a:r>
              <a:rPr lang="en-US" dirty="0"/>
              <a:t>Example: Economics &lt;--&gt;  Global Studies</a:t>
            </a:r>
          </a:p>
          <a:p>
            <a:endParaRPr lang="en-US" dirty="0"/>
          </a:p>
          <a:p>
            <a:r>
              <a:rPr lang="en-US" dirty="0"/>
              <a:t>A little of something goes a long way!</a:t>
            </a:r>
          </a:p>
        </p:txBody>
      </p:sp>
    </p:spTree>
    <p:extLst>
      <p:ext uri="{BB962C8B-B14F-4D97-AF65-F5344CB8AC3E}">
        <p14:creationId xmlns:p14="http://schemas.microsoft.com/office/powerpoint/2010/main" val="3455443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FA0D1-BCEB-4ACA-BB8D-95E3D3E2B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 Eds and Credit gaps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A0A03-C9D8-4ED1-983E-6818E1E7B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be random; have a goal in mind</a:t>
            </a:r>
          </a:p>
          <a:p>
            <a:r>
              <a:rPr lang="en-US" dirty="0"/>
              <a:t>Name a major: what Fine Arts/Natural Sciences/Other courses might be a good fit?</a:t>
            </a:r>
          </a:p>
          <a:p>
            <a:r>
              <a:rPr lang="en-US" dirty="0"/>
              <a:t>Same for ELEs: What courses might work with your degree?</a:t>
            </a:r>
          </a:p>
          <a:p>
            <a:endParaRPr lang="en-US" dirty="0"/>
          </a:p>
          <a:p>
            <a:r>
              <a:rPr lang="en-US" dirty="0"/>
              <a:t>Credit gaps: What 300-level courses outside your discipline might help?</a:t>
            </a:r>
          </a:p>
          <a:p>
            <a:endParaRPr lang="en-US" dirty="0"/>
          </a:p>
          <a:p>
            <a:r>
              <a:rPr lang="en-US" dirty="0"/>
              <a:t>Can you make a theme or a narrative out of this?</a:t>
            </a:r>
          </a:p>
        </p:txBody>
      </p:sp>
    </p:spTree>
    <p:extLst>
      <p:ext uri="{BB962C8B-B14F-4D97-AF65-F5344CB8AC3E}">
        <p14:creationId xmlns:p14="http://schemas.microsoft.com/office/powerpoint/2010/main" val="2261536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FA0D1-BCEB-4ACA-BB8D-95E3D3E2B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formal approaches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A0A03-C9D8-4ED1-983E-6818E1E7B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Themed groupings (unofficial, up to you to explain)</a:t>
            </a:r>
          </a:p>
          <a:p>
            <a:r>
              <a:rPr lang="en-US" dirty="0" err="1"/>
              <a:t>Microcredentials</a:t>
            </a:r>
            <a:r>
              <a:rPr lang="en-US" dirty="0"/>
              <a:t> (a growing trend-will be official on transcripts)</a:t>
            </a:r>
          </a:p>
          <a:p>
            <a:r>
              <a:rPr lang="en-US" dirty="0"/>
              <a:t>Minors (official designations; on transcripts; build skills and send signals)</a:t>
            </a:r>
          </a:p>
        </p:txBody>
      </p:sp>
    </p:spTree>
    <p:extLst>
      <p:ext uri="{BB962C8B-B14F-4D97-AF65-F5344CB8AC3E}">
        <p14:creationId xmlns:p14="http://schemas.microsoft.com/office/powerpoint/2010/main" val="1361017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5CC30-7490-4A0F-8AAC-5B6BC7375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Summing up your work: Portfolios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26D69-C315-428F-A6BF-68732A1FDE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 backwards: Aim to have solid work</a:t>
            </a:r>
            <a:br>
              <a:rPr lang="en-US" dirty="0"/>
            </a:br>
            <a:r>
              <a:rPr lang="en-US" dirty="0"/>
              <a:t>Class projects, formal capstone, other work?</a:t>
            </a:r>
          </a:p>
          <a:p>
            <a:r>
              <a:rPr lang="en-US" dirty="0"/>
              <a:t>Have a way to compile it and to showcase it</a:t>
            </a:r>
          </a:p>
          <a:p>
            <a:r>
              <a:rPr lang="en-US" dirty="0"/>
              <a:t>Build a website?</a:t>
            </a:r>
          </a:p>
        </p:txBody>
      </p:sp>
    </p:spTree>
    <p:extLst>
      <p:ext uri="{BB962C8B-B14F-4D97-AF65-F5344CB8AC3E}">
        <p14:creationId xmlns:p14="http://schemas.microsoft.com/office/powerpoint/2010/main" val="803023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644AD-B444-4203-A0F6-F64DF9D7D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Outside the classroom: internships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289F0-AF6F-4D47-9E42-3AA418E25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u="sng" dirty="0"/>
              <a:t>Getting one:</a:t>
            </a:r>
          </a:p>
          <a:p>
            <a:r>
              <a:rPr lang="en-US" dirty="0"/>
              <a:t>Check Handshake, talk to your advisor, practice applying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u="sng" dirty="0"/>
              <a:t>Once you have one:</a:t>
            </a:r>
          </a:p>
          <a:p>
            <a:r>
              <a:rPr lang="en-US" dirty="0"/>
              <a:t>Build “soft” skills, job skills, network, etc.</a:t>
            </a:r>
          </a:p>
          <a:p>
            <a:r>
              <a:rPr lang="en-US" dirty="0"/>
              <a:t>Try to leverage your current jobs</a:t>
            </a:r>
          </a:p>
        </p:txBody>
      </p:sp>
    </p:spTree>
    <p:extLst>
      <p:ext uri="{BB962C8B-B14F-4D97-AF65-F5344CB8AC3E}">
        <p14:creationId xmlns:p14="http://schemas.microsoft.com/office/powerpoint/2010/main" val="30265952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644AD-B444-4203-A0F6-F64DF9D7D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Opportunities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289F0-AF6F-4D47-9E42-3AA418E25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your content knowledge, critical thinking</a:t>
            </a:r>
          </a:p>
          <a:p>
            <a:r>
              <a:rPr lang="en-US" dirty="0"/>
              <a:t>Demonstrate teamwork, time management, related skills</a:t>
            </a:r>
          </a:p>
          <a:p>
            <a:r>
              <a:rPr lang="en-US" dirty="0"/>
              <a:t>Make a presentation, write well—build communication skills</a:t>
            </a:r>
          </a:p>
          <a:p>
            <a:endParaRPr lang="en-US" dirty="0"/>
          </a:p>
          <a:p>
            <a:r>
              <a:rPr lang="en-US" dirty="0"/>
              <a:t>Take advantage of SHARC funding during Summer 2026!</a:t>
            </a:r>
          </a:p>
        </p:txBody>
      </p:sp>
    </p:spTree>
    <p:extLst>
      <p:ext uri="{BB962C8B-B14F-4D97-AF65-F5344CB8AC3E}">
        <p14:creationId xmlns:p14="http://schemas.microsoft.com/office/powerpoint/2010/main" val="205776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644AD-B444-4203-A0F6-F64DF9D7D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Tying it together: your resume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289F0-AF6F-4D47-9E42-3AA418E25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the opportunity to highlight these opportunities: Research projects, related coursework or majors, internships</a:t>
            </a:r>
          </a:p>
          <a:p>
            <a:r>
              <a:rPr lang="en-US" dirty="0"/>
              <a:t>Past job experience: Highlight what matters (even if the job isn’t related)</a:t>
            </a:r>
            <a:br>
              <a:rPr lang="en-US" dirty="0"/>
            </a:br>
            <a:r>
              <a:rPr lang="en-US" dirty="0"/>
              <a:t>Did they trust you? Did you get things done?</a:t>
            </a:r>
          </a:p>
          <a:p>
            <a:r>
              <a:rPr lang="en-US" dirty="0"/>
              <a:t>Be very careful in general: What to include and what not to</a:t>
            </a:r>
          </a:p>
          <a:p>
            <a:r>
              <a:rPr lang="en-US" dirty="0"/>
              <a:t>Have someone look it over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251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644AD-B444-4203-A0F6-F64DF9D7D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Achieving your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289F0-AF6F-4D47-9E42-3AA418E25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the skills to do what you want</a:t>
            </a:r>
          </a:p>
          <a:p>
            <a:r>
              <a:rPr lang="en-US" dirty="0"/>
              <a:t>You are able to show the world that you can do them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/>
              <a:t>Any questions</a:t>
            </a:r>
            <a:r>
              <a:rPr lang="en-US" dirty="0"/>
              <a:t>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48062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TM04033921[[fn=Damask]]</Template>
  <TotalTime>1588</TotalTime>
  <Words>652</Words>
  <Application>Microsoft Office PowerPoint</Application>
  <PresentationFormat>Widescreen</PresentationFormat>
  <Paragraphs>84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Bookman Old Style</vt:lpstr>
      <vt:lpstr>Rockwell</vt:lpstr>
      <vt:lpstr>Damask</vt:lpstr>
      <vt:lpstr>Beyond the Degree: Building Skills to Complement your Bachelor's in the Social Sciences and Humanities</vt:lpstr>
      <vt:lpstr>Achieving your career goals!</vt:lpstr>
      <vt:lpstr>What can you do?</vt:lpstr>
      <vt:lpstr>How to do it?</vt:lpstr>
      <vt:lpstr>Differences in Majors</vt:lpstr>
      <vt:lpstr>Skills vs. signals</vt:lpstr>
      <vt:lpstr>Substitutes and Complements</vt:lpstr>
      <vt:lpstr>Gen Eds and Credit gaps</vt:lpstr>
      <vt:lpstr>More formal approaches</vt:lpstr>
      <vt:lpstr>Summing up your work: Portfolios</vt:lpstr>
      <vt:lpstr>Outside the classroom: internships</vt:lpstr>
      <vt:lpstr>Research Opportunities</vt:lpstr>
      <vt:lpstr>Tying it together: your resume</vt:lpstr>
      <vt:lpstr>Achieving your goals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the Degree</dc:title>
  <dc:creator>Hegerty, Scott</dc:creator>
  <cp:lastModifiedBy>Hegerty, Scott</cp:lastModifiedBy>
  <cp:revision>22</cp:revision>
  <dcterms:created xsi:type="dcterms:W3CDTF">2026-02-16T19:18:09Z</dcterms:created>
  <dcterms:modified xsi:type="dcterms:W3CDTF">2026-02-25T18:14:01Z</dcterms:modified>
</cp:coreProperties>
</file>