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sldIdLst>
    <p:sldId id="256" r:id="rId2"/>
    <p:sldId id="257" r:id="rId3"/>
    <p:sldId id="270" r:id="rId4"/>
    <p:sldId id="258" r:id="rId5"/>
    <p:sldId id="266" r:id="rId6"/>
    <p:sldId id="264" r:id="rId7"/>
    <p:sldId id="262" r:id="rId8"/>
    <p:sldId id="259" r:id="rId9"/>
    <p:sldId id="265" r:id="rId10"/>
    <p:sldId id="263" r:id="rId11"/>
    <p:sldId id="260" r:id="rId12"/>
    <p:sldId id="261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7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6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3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0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3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7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2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5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7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08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9249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55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61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9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70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5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CA1F6-CB27-480F-9045-D7C05230D3A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9C6DA-590F-41E4-BBA9-FAC6FA263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6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iu.edu/shar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3AF7-6D7C-4C79-9B28-E9A53A62B2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Beyond the </a:t>
            </a:r>
            <a:r>
              <a:rPr lang="en-US" dirty="0"/>
              <a:t>Degree:</a:t>
            </a:r>
            <a:br>
              <a:rPr lang="en-US" dirty="0"/>
            </a:br>
            <a:r>
              <a:rPr lang="en-US" sz="2400" dirty="0"/>
              <a:t>Building Skills to Complement your Bachelor's in the Social Sciences and Humanities</a:t>
            </a:r>
            <a:endParaRPr lang="en-US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7B5CA-1233-413E-9E07-FE62FA1DC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Scott Hegerty</a:t>
            </a:r>
          </a:p>
          <a:p>
            <a:r>
              <a:rPr lang="en-US"/>
              <a:t>Professor, Economics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687FF-4D0A-4ED4-8015-AA231B770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9" y="3602038"/>
            <a:ext cx="2689055" cy="263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8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What do you want your first job to 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backwards</a:t>
            </a:r>
          </a:p>
          <a:p>
            <a:r>
              <a:rPr lang="en-US" dirty="0"/>
              <a:t>Start working forwards…now!</a:t>
            </a:r>
          </a:p>
          <a:p>
            <a:r>
              <a:rPr lang="en-US" dirty="0"/>
              <a:t>What will you be glad you did?</a:t>
            </a:r>
          </a:p>
        </p:txBody>
      </p:sp>
    </p:spTree>
    <p:extLst>
      <p:ext uri="{BB962C8B-B14F-4D97-AF65-F5344CB8AC3E}">
        <p14:creationId xmlns:p14="http://schemas.microsoft.com/office/powerpoint/2010/main" val="18762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your career goals!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Sciences and Humanities: Interesting topics + Interesting careers</a:t>
            </a:r>
          </a:p>
          <a:p>
            <a:r>
              <a:rPr lang="en-US" dirty="0"/>
              <a:t>BUT: The major is only about 1/3 of your total credits</a:t>
            </a:r>
          </a:p>
          <a:p>
            <a:r>
              <a:rPr lang="en-US" dirty="0"/>
              <a:t>AND: There is more to college than just credits</a:t>
            </a:r>
          </a:p>
          <a:p>
            <a:endParaRPr lang="en-US" dirty="0"/>
          </a:p>
          <a:p>
            <a:r>
              <a:rPr lang="en-US" dirty="0"/>
              <a:t>How can you make the most of these opportunities?</a:t>
            </a:r>
          </a:p>
        </p:txBody>
      </p:sp>
    </p:spTree>
    <p:extLst>
      <p:ext uri="{BB962C8B-B14F-4D97-AF65-F5344CB8AC3E}">
        <p14:creationId xmlns:p14="http://schemas.microsoft.com/office/powerpoint/2010/main" val="375080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Leverage General Education courses</a:t>
            </a:r>
          </a:p>
          <a:p>
            <a:r>
              <a:rPr lang="en-US" dirty="0"/>
              <a:t>Take advantage of 300-level electives</a:t>
            </a:r>
          </a:p>
          <a:p>
            <a:r>
              <a:rPr lang="en-US" dirty="0"/>
              <a:t>Go outside the classroom</a:t>
            </a:r>
          </a:p>
          <a:p>
            <a:endParaRPr lang="en-US" dirty="0"/>
          </a:p>
          <a:p>
            <a:r>
              <a:rPr lang="en-US" dirty="0"/>
              <a:t>(All while building skills within your major!)</a:t>
            </a:r>
          </a:p>
          <a:p>
            <a:r>
              <a:rPr lang="en-US" dirty="0"/>
              <a:t>Think of some key ideas and make a plan</a:t>
            </a:r>
          </a:p>
        </p:txBody>
      </p:sp>
    </p:spTree>
    <p:extLst>
      <p:ext uri="{BB962C8B-B14F-4D97-AF65-F5344CB8AC3E}">
        <p14:creationId xmlns:p14="http://schemas.microsoft.com/office/powerpoint/2010/main" val="254435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backward from a goal:  Specific career, grad school, how you see yourself</a:t>
            </a:r>
            <a:br>
              <a:rPr lang="en-US" dirty="0"/>
            </a:br>
            <a:r>
              <a:rPr lang="en-US" dirty="0"/>
              <a:t>What will you need?</a:t>
            </a:r>
          </a:p>
          <a:p>
            <a:r>
              <a:rPr lang="en-US" dirty="0"/>
              <a:t>Work NOW to do it</a:t>
            </a:r>
          </a:p>
          <a:p>
            <a:r>
              <a:rPr lang="en-US" dirty="0"/>
              <a:t>Choose courses with the goal in mind</a:t>
            </a:r>
          </a:p>
          <a:p>
            <a:r>
              <a:rPr lang="en-US" dirty="0"/>
              <a:t>Take part in activities outside the classroom:</a:t>
            </a:r>
            <a:br>
              <a:rPr lang="en-US" dirty="0"/>
            </a:br>
            <a:r>
              <a:rPr lang="en-US" dirty="0"/>
              <a:t>Organizations; internships; research opportunities; presentations</a:t>
            </a:r>
          </a:p>
          <a:p>
            <a:r>
              <a:rPr lang="en-US" dirty="0"/>
              <a:t>Present yourself: A portfolio and your resume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37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in Majors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Outcomes</a:t>
            </a:r>
          </a:p>
          <a:p>
            <a:r>
              <a:rPr lang="en-US" dirty="0"/>
              <a:t>Some build specific skills (like Economics)</a:t>
            </a:r>
          </a:p>
          <a:p>
            <a:r>
              <a:rPr lang="en-US" dirty="0"/>
              <a:t>Others have skills components (such as GIS within Geography)</a:t>
            </a:r>
          </a:p>
          <a:p>
            <a:r>
              <a:rPr lang="en-US" dirty="0"/>
              <a:t>Econ majors could use a writing class; Journalism majors could use an Econ class?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Opportunities</a:t>
            </a:r>
          </a:p>
          <a:p>
            <a:r>
              <a:rPr lang="en-US" dirty="0"/>
              <a:t>Majors have different requirements, so the numbers can be different</a:t>
            </a:r>
            <a:br>
              <a:rPr lang="en-US" dirty="0"/>
            </a:br>
            <a:r>
              <a:rPr lang="en-US" dirty="0"/>
              <a:t>(Econ requires 24 credits at the 300 level, so there can be 16 “elective” credits)</a:t>
            </a:r>
          </a:p>
        </p:txBody>
      </p:sp>
    </p:spTree>
    <p:extLst>
      <p:ext uri="{BB962C8B-B14F-4D97-AF65-F5344CB8AC3E}">
        <p14:creationId xmlns:p14="http://schemas.microsoft.com/office/powerpoint/2010/main" val="29477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F1-1866-4F7D-ABCC-7C520B85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vs.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2400-E6C1-4708-81C0-007BC3B9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learn something directly employable: Writing, Data analysis, Business skills </a:t>
            </a:r>
          </a:p>
          <a:p>
            <a:endParaRPr lang="en-US" dirty="0"/>
          </a:p>
          <a:p>
            <a:r>
              <a:rPr lang="en-US" dirty="0"/>
              <a:t>You can show employers that you are competent, trustworthy, or interested</a:t>
            </a:r>
          </a:p>
          <a:p>
            <a:r>
              <a:rPr lang="en-US" dirty="0"/>
              <a:t>“Signaling” in Economics: You can cut through the noise</a:t>
            </a:r>
          </a:p>
          <a:p>
            <a:endParaRPr lang="en-US" dirty="0"/>
          </a:p>
          <a:p>
            <a:r>
              <a:rPr lang="en-US" dirty="0"/>
              <a:t>Combined: You can get the interview and get the job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30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A0D1-BCEB-4ACA-BB8D-95E3D3E2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Substitutes and Complements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0A03-C9D8-4ED1-983E-6818E1E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Do you want to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Learn something outside your major  	OR</a:t>
            </a:r>
            <a:br>
              <a:rPr lang="en-US" dirty="0"/>
            </a:br>
            <a:r>
              <a:rPr lang="en-US" dirty="0"/>
              <a:t>Do something related to augment your major</a:t>
            </a:r>
          </a:p>
          <a:p>
            <a:endParaRPr lang="en-US" dirty="0"/>
          </a:p>
          <a:p>
            <a:r>
              <a:rPr lang="en-US" dirty="0"/>
              <a:t>Example: Economics &lt;--&gt;  Global Studies</a:t>
            </a:r>
          </a:p>
          <a:p>
            <a:endParaRPr lang="en-US" dirty="0"/>
          </a:p>
          <a:p>
            <a:r>
              <a:rPr lang="en-US" dirty="0"/>
              <a:t>A little of something goes a long way!</a:t>
            </a:r>
          </a:p>
        </p:txBody>
      </p:sp>
    </p:spTree>
    <p:extLst>
      <p:ext uri="{BB962C8B-B14F-4D97-AF65-F5344CB8AC3E}">
        <p14:creationId xmlns:p14="http://schemas.microsoft.com/office/powerpoint/2010/main" val="345544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A0D1-BCEB-4ACA-BB8D-95E3D3E2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 Eds and Credit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0A03-C9D8-4ED1-983E-6818E1E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be random; have a goal in mind</a:t>
            </a:r>
          </a:p>
          <a:p>
            <a:r>
              <a:rPr lang="en-US" dirty="0"/>
              <a:t>Name a major: what Fine Arts/Natural Sciences/Other courses might be a good fit?</a:t>
            </a:r>
          </a:p>
          <a:p>
            <a:r>
              <a:rPr lang="en-US" dirty="0"/>
              <a:t>Same for ELEs: What courses might work with your degree?</a:t>
            </a:r>
          </a:p>
          <a:p>
            <a:endParaRPr lang="en-US" dirty="0"/>
          </a:p>
          <a:p>
            <a:r>
              <a:rPr lang="en-US" dirty="0"/>
              <a:t>Credit gaps: What 300-level courses outside your discipline might help?</a:t>
            </a:r>
          </a:p>
          <a:p>
            <a:endParaRPr lang="en-US" dirty="0"/>
          </a:p>
          <a:p>
            <a:r>
              <a:rPr lang="en-US" dirty="0"/>
              <a:t>Can you make a theme or a narrative out of this?</a:t>
            </a:r>
          </a:p>
        </p:txBody>
      </p:sp>
    </p:spTree>
    <p:extLst>
      <p:ext uri="{BB962C8B-B14F-4D97-AF65-F5344CB8AC3E}">
        <p14:creationId xmlns:p14="http://schemas.microsoft.com/office/powerpoint/2010/main" val="226153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A0D1-BCEB-4ACA-BB8D-95E3D3E2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formal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0A03-C9D8-4ED1-983E-6818E1E7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Themed groupings (unofficial, up to you to explain)</a:t>
            </a:r>
          </a:p>
          <a:p>
            <a:r>
              <a:rPr lang="en-US" dirty="0" err="1"/>
              <a:t>Microcredentials</a:t>
            </a:r>
            <a:r>
              <a:rPr lang="en-US" dirty="0"/>
              <a:t> (a growing trend-will be official on transcripts)</a:t>
            </a:r>
          </a:p>
          <a:p>
            <a:r>
              <a:rPr lang="en-US" dirty="0"/>
              <a:t>Minors (official designations; on transcripts; build skills and send signals)</a:t>
            </a:r>
          </a:p>
        </p:txBody>
      </p:sp>
    </p:spTree>
    <p:extLst>
      <p:ext uri="{BB962C8B-B14F-4D97-AF65-F5344CB8AC3E}">
        <p14:creationId xmlns:p14="http://schemas.microsoft.com/office/powerpoint/2010/main" val="136101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CC30-7490-4A0F-8AAC-5B6BC737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your work: Portfolios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6D69-C315-428F-A6BF-68732A1FD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backwards: Aim to have solid work</a:t>
            </a:r>
            <a:br>
              <a:rPr lang="en-US" dirty="0"/>
            </a:br>
            <a:r>
              <a:rPr lang="en-US" dirty="0"/>
              <a:t>Class projects, formal capstone, other work?</a:t>
            </a:r>
          </a:p>
          <a:p>
            <a:r>
              <a:rPr lang="en-US" dirty="0"/>
              <a:t>Have a way to compile it and to showcase it</a:t>
            </a:r>
          </a:p>
          <a:p>
            <a:r>
              <a:rPr lang="en-US" dirty="0"/>
              <a:t>Build a website?</a:t>
            </a:r>
          </a:p>
        </p:txBody>
      </p:sp>
    </p:spTree>
    <p:extLst>
      <p:ext uri="{BB962C8B-B14F-4D97-AF65-F5344CB8AC3E}">
        <p14:creationId xmlns:p14="http://schemas.microsoft.com/office/powerpoint/2010/main" val="80302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4AD-B444-4203-A0F6-F64DF9D7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the classroom: internships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9F0-AF6F-4D47-9E42-3AA418E25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Getting one:</a:t>
            </a:r>
          </a:p>
          <a:p>
            <a:r>
              <a:rPr lang="en-US" dirty="0"/>
              <a:t>Check Handshake, talk to your advisor, practice applying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Once you have one:</a:t>
            </a:r>
          </a:p>
          <a:p>
            <a:r>
              <a:rPr lang="en-US" dirty="0"/>
              <a:t>Build “soft” skills, job skills, network, etc.</a:t>
            </a:r>
          </a:p>
          <a:p>
            <a:r>
              <a:rPr lang="en-US" dirty="0"/>
              <a:t>Try to leverage your current jobs</a:t>
            </a:r>
          </a:p>
        </p:txBody>
      </p:sp>
    </p:spTree>
    <p:extLst>
      <p:ext uri="{BB962C8B-B14F-4D97-AF65-F5344CB8AC3E}">
        <p14:creationId xmlns:p14="http://schemas.microsoft.com/office/powerpoint/2010/main" val="302659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4AD-B444-4203-A0F6-F64DF9D7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9F0-AF6F-4D47-9E42-3AA418E25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your content knowledge, critical thinking</a:t>
            </a:r>
          </a:p>
          <a:p>
            <a:r>
              <a:rPr lang="en-US" dirty="0"/>
              <a:t>Demonstrate teamwork, time management, related skills</a:t>
            </a:r>
          </a:p>
          <a:p>
            <a:r>
              <a:rPr lang="en-US" dirty="0"/>
              <a:t>Make a presentation, write well—build communication skills</a:t>
            </a:r>
          </a:p>
          <a:p>
            <a:endParaRPr lang="en-US" dirty="0"/>
          </a:p>
          <a:p>
            <a:r>
              <a:rPr lang="en-US" dirty="0"/>
              <a:t>Take advantage of SHARC funding during Summer 2026!</a:t>
            </a:r>
          </a:p>
        </p:txBody>
      </p:sp>
    </p:spTree>
    <p:extLst>
      <p:ext uri="{BB962C8B-B14F-4D97-AF65-F5344CB8AC3E}">
        <p14:creationId xmlns:p14="http://schemas.microsoft.com/office/powerpoint/2010/main" val="2057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4AD-B444-4203-A0F6-F64DF9D7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Tying it together: your resume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9F0-AF6F-4D47-9E42-3AA418E25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the opportunity to highlight these opportunities: Research projects, related coursework or majors, internships</a:t>
            </a:r>
          </a:p>
          <a:p>
            <a:r>
              <a:rPr lang="en-US" dirty="0"/>
              <a:t>Past job experience: Highlight what matters (even if the job isn’t related)</a:t>
            </a:r>
            <a:br>
              <a:rPr lang="en-US" dirty="0"/>
            </a:br>
            <a:r>
              <a:rPr lang="en-US" dirty="0"/>
              <a:t>Did they trust you? Did you get things done?</a:t>
            </a:r>
          </a:p>
          <a:p>
            <a:r>
              <a:rPr lang="en-US" dirty="0"/>
              <a:t>Be very careful in general: What to include and what not to</a:t>
            </a:r>
          </a:p>
          <a:p>
            <a:r>
              <a:rPr lang="en-US" dirty="0"/>
              <a:t>Have someone look it over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1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44AD-B444-4203-A0F6-F64DF9D7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your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289F0-AF6F-4D47-9E42-3AA418E25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the skills to do what you want</a:t>
            </a:r>
          </a:p>
          <a:p>
            <a:r>
              <a:rPr lang="en-US" dirty="0"/>
              <a:t>You are able to show the world that you can do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questions?</a:t>
            </a:r>
          </a:p>
          <a:p>
            <a:r>
              <a:rPr lang="en-US" dirty="0">
                <a:hlinkClick r:id="rId2"/>
              </a:rPr>
              <a:t>www.neiu.edu/sharc</a:t>
            </a:r>
            <a:r>
              <a:rPr lang="en-US" dirty="0"/>
              <a:t>   OR @</a:t>
            </a:r>
            <a:r>
              <a:rPr lang="en-US" dirty="0" err="1"/>
              <a:t>neiu_sharc</a:t>
            </a:r>
            <a:r>
              <a:rPr lang="en-US" dirty="0"/>
              <a:t> </a:t>
            </a:r>
            <a:r>
              <a:rPr lang="en-US"/>
              <a:t>on Instagram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80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1589</TotalTime>
  <Words>692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Beyond the Degree: Building Skills to Complement your Bachelor's in the Social Sciences and Humanities</vt:lpstr>
      <vt:lpstr>What do you want your first job to be?</vt:lpstr>
      <vt:lpstr>Achieving your career goals!</vt:lpstr>
      <vt:lpstr>What can you do?</vt:lpstr>
      <vt:lpstr>How to do it?</vt:lpstr>
      <vt:lpstr>Differences in Majors</vt:lpstr>
      <vt:lpstr>Skills vs. signals</vt:lpstr>
      <vt:lpstr>Substitutes and Complements</vt:lpstr>
      <vt:lpstr>Gen Eds and Credit gaps</vt:lpstr>
      <vt:lpstr>More formal approaches</vt:lpstr>
      <vt:lpstr>Summing up your work: Portfolios</vt:lpstr>
      <vt:lpstr>Outside the classroom: internships</vt:lpstr>
      <vt:lpstr>Research Opportunities</vt:lpstr>
      <vt:lpstr>Tying it together: your resume</vt:lpstr>
      <vt:lpstr>Achieving your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Degree</dc:title>
  <dc:creator>Hegerty, Scott</dc:creator>
  <cp:lastModifiedBy>Hegerty, Scott</cp:lastModifiedBy>
  <cp:revision>25</cp:revision>
  <dcterms:created xsi:type="dcterms:W3CDTF">2026-02-16T19:18:09Z</dcterms:created>
  <dcterms:modified xsi:type="dcterms:W3CDTF">2026-02-26T19:29:17Z</dcterms:modified>
</cp:coreProperties>
</file>